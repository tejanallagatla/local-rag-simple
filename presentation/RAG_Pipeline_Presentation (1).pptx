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60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17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6077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3915" y="1562100"/>
            <a:ext cx="59361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spcAft>
                <a:spcPts val="15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 System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526191" y="2324100"/>
            <a:ext cx="60916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2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for PDF using Open Source Tools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00500" y="2933700"/>
            <a:ext cx="1143000" cy="38100"/>
          </a:xfrm>
          <a:prstGeom prst="rect">
            <a:avLst/>
          </a:prstGeom>
          <a:solidFill>
            <a:srgbClr val="00BC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6191" y="3276600"/>
            <a:ext cx="60916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5-Component Architecture | FAISS Vector Search | LLM Generation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990600"/>
            <a:ext cx="8382000" cy="1051322"/>
          </a:xfrm>
          <a:prstGeom prst="roundRect">
            <a:avLst>
              <a:gd name="adj" fmla="val 7248"/>
            </a:avLst>
          </a:prstGeom>
          <a:solidFill>
            <a:srgbClr val="E8E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1143000"/>
            <a:ext cx="83164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PHASE (One-Time Initialization)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495300" y="1392436"/>
            <a:ext cx="2476500" cy="535186"/>
          </a:xfrm>
          <a:prstGeom prst="roundRect">
            <a:avLst>
              <a:gd name="adj" fmla="val 106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14350" y="1392436"/>
            <a:ext cx="0" cy="535186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87686"/>
            <a:ext cx="21762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Knowledge Base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685776"/>
            <a:ext cx="21762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PDF → Chunk (200 chars)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067050" y="1540073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33750" y="1392436"/>
            <a:ext cx="2476500" cy="535186"/>
          </a:xfrm>
          <a:prstGeom prst="roundRect">
            <a:avLst>
              <a:gd name="adj" fmla="val 106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352800" y="1392436"/>
            <a:ext cx="0" cy="535186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4250" y="1487686"/>
            <a:ext cx="21762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Semantic Layer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4250" y="1685776"/>
            <a:ext cx="21762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to 384-dim vectors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905500" y="1540073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72200" y="1392436"/>
            <a:ext cx="2476500" cy="535186"/>
          </a:xfrm>
          <a:prstGeom prst="roundRect">
            <a:avLst>
              <a:gd name="adj" fmla="val 106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191250" y="1392436"/>
            <a:ext cx="0" cy="535186"/>
          </a:xfrm>
          <a:prstGeom prst="line">
            <a:avLst/>
          </a:prstGeom>
          <a:noFill/>
          <a:ln w="381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62700" y="1487686"/>
            <a:ext cx="21762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Retrieval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62700" y="1685776"/>
            <a:ext cx="21762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FAISS index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297180" y="2175272"/>
            <a:ext cx="854964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1000" y="2628602"/>
            <a:ext cx="8382000" cy="1051322"/>
          </a:xfrm>
          <a:prstGeom prst="roundRect">
            <a:avLst>
              <a:gd name="adj" fmla="val 7248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5300" y="2781002"/>
            <a:ext cx="831646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PHASE (Runtime)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95300" y="3030438"/>
            <a:ext cx="1766888" cy="535186"/>
          </a:xfrm>
          <a:prstGeom prst="roundRect">
            <a:avLst>
              <a:gd name="adj" fmla="val 106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4350" y="3030438"/>
            <a:ext cx="0" cy="535186"/>
          </a:xfrm>
          <a:prstGeom prst="line">
            <a:avLst/>
          </a:prstGeom>
          <a:noFill/>
          <a:ln w="381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3125688"/>
            <a:ext cx="14524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Question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3323779"/>
            <a:ext cx="14524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query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2357438" y="3178076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624138" y="3030438"/>
            <a:ext cx="1766888" cy="535186"/>
          </a:xfrm>
          <a:prstGeom prst="roundRect">
            <a:avLst>
              <a:gd name="adj" fmla="val 106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643188" y="3030438"/>
            <a:ext cx="0" cy="535186"/>
          </a:xfrm>
          <a:prstGeom prst="line">
            <a:avLst/>
          </a:prstGeom>
          <a:noFill/>
          <a:ln w="381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814638" y="3125688"/>
            <a:ext cx="14524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14638" y="3323779"/>
            <a:ext cx="14524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top-K similar chunks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486275" y="3178076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752975" y="3030438"/>
            <a:ext cx="1766888" cy="535186"/>
          </a:xfrm>
          <a:prstGeom prst="roundRect">
            <a:avLst>
              <a:gd name="adj" fmla="val 106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772025" y="3030438"/>
            <a:ext cx="0" cy="535186"/>
          </a:xfrm>
          <a:prstGeom prst="line">
            <a:avLst/>
          </a:prstGeom>
          <a:noFill/>
          <a:ln w="381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43475" y="3125688"/>
            <a:ext cx="14524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Augmentation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43475" y="3323779"/>
            <a:ext cx="14524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 with context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6615113" y="3178076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881813" y="3030438"/>
            <a:ext cx="1766888" cy="535186"/>
          </a:xfrm>
          <a:prstGeom prst="roundRect">
            <a:avLst>
              <a:gd name="adj" fmla="val 1067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900863" y="3030438"/>
            <a:ext cx="0" cy="535186"/>
          </a:xfrm>
          <a:prstGeom prst="line">
            <a:avLst/>
          </a:prstGeom>
          <a:noFill/>
          <a:ln w="381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072313" y="3125688"/>
            <a:ext cx="14524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Generation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72313" y="3323779"/>
            <a:ext cx="14524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produces answer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381000" y="3832324"/>
            <a:ext cx="2009775" cy="527596"/>
          </a:xfrm>
          <a:prstGeom prst="roundRect">
            <a:avLst>
              <a:gd name="adj" fmla="val 10832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96919" y="3908524"/>
            <a:ext cx="17779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Size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496919" y="4083695"/>
            <a:ext cx="1777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chars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2505075" y="3832324"/>
            <a:ext cx="2009775" cy="527596"/>
          </a:xfrm>
          <a:prstGeom prst="roundRect">
            <a:avLst>
              <a:gd name="adj" fmla="val 10832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620994" y="3908524"/>
            <a:ext cx="17779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Dimension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2620994" y="4083695"/>
            <a:ext cx="1777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384-dim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4629150" y="3832324"/>
            <a:ext cx="2009775" cy="527596"/>
          </a:xfrm>
          <a:prstGeom prst="roundRect">
            <a:avLst>
              <a:gd name="adj" fmla="val 10832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45069" y="3908524"/>
            <a:ext cx="17779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Model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4745069" y="4083695"/>
            <a:ext cx="1777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llama3.2:3b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6753225" y="3832324"/>
            <a:ext cx="2009775" cy="527596"/>
          </a:xfrm>
          <a:prstGeom prst="roundRect">
            <a:avLst>
              <a:gd name="adj" fmla="val 10832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869144" y="3908524"/>
            <a:ext cx="17779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Results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6869144" y="4083695"/>
            <a:ext cx="1777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Details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990600"/>
            <a:ext cx="8382000" cy="538907"/>
          </a:xfrm>
          <a:prstGeom prst="roundRect">
            <a:avLst>
              <a:gd name="adj" fmla="val 10605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4813" y="990600"/>
            <a:ext cx="0" cy="538907"/>
          </a:xfrm>
          <a:prstGeom prst="line">
            <a:avLst/>
          </a:prstGeom>
          <a:noFill/>
          <a:ln w="47625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1975" y="1085850"/>
            <a:ext cx="714514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Knowledge Base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561975" y="1287661"/>
            <a:ext cx="71451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PDF and creates overlapping text chunks. Preserves sentence boundaries, tracks page numbers.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681317" y="1085850"/>
            <a:ext cx="948333" cy="215205"/>
          </a:xfrm>
          <a:prstGeom prst="roundRect">
            <a:avLst>
              <a:gd name="adj" fmla="val 177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6567" y="1153566"/>
            <a:ext cx="772989" cy="99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knowledge_base.py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81000" y="1605707"/>
            <a:ext cx="8382000" cy="538907"/>
          </a:xfrm>
          <a:prstGeom prst="roundRect">
            <a:avLst>
              <a:gd name="adj" fmla="val 10605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4813" y="1605707"/>
            <a:ext cx="0" cy="538907"/>
          </a:xfrm>
          <a:prstGeom prst="line">
            <a:avLst/>
          </a:prstGeom>
          <a:noFill/>
          <a:ln w="47625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1975" y="1700957"/>
            <a:ext cx="72181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Semantic Layer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61975" y="1902768"/>
            <a:ext cx="72181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text to numerical embeddings using sentence-transformers. Enables semantic similarity.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752904" y="1700957"/>
            <a:ext cx="876746" cy="215205"/>
          </a:xfrm>
          <a:prstGeom prst="roundRect">
            <a:avLst>
              <a:gd name="adj" fmla="val 177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48154" y="1748582"/>
            <a:ext cx="6999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semantic_layer.py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81000" y="2220813"/>
            <a:ext cx="8382000" cy="538907"/>
          </a:xfrm>
          <a:prstGeom prst="roundRect">
            <a:avLst>
              <a:gd name="adj" fmla="val 10605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4813" y="2220813"/>
            <a:ext cx="0" cy="538907"/>
          </a:xfrm>
          <a:prstGeom prst="line">
            <a:avLst/>
          </a:prstGeom>
          <a:noFill/>
          <a:ln w="47625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1975" y="2316063"/>
            <a:ext cx="716487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Retrieval System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61975" y="2517874"/>
            <a:ext cx="716487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Implements FAISS for efficient nearest-neighbor vector search. Sub-second search performance.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700665" y="2316063"/>
            <a:ext cx="928985" cy="215205"/>
          </a:xfrm>
          <a:prstGeom prst="roundRect">
            <a:avLst>
              <a:gd name="adj" fmla="val 177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95915" y="2363688"/>
            <a:ext cx="7532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retrieval_system.py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381000" y="2835920"/>
            <a:ext cx="8382000" cy="538907"/>
          </a:xfrm>
          <a:prstGeom prst="roundRect">
            <a:avLst>
              <a:gd name="adj" fmla="val 10605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04813" y="2835920"/>
            <a:ext cx="0" cy="538907"/>
          </a:xfrm>
          <a:prstGeom prst="line">
            <a:avLst/>
          </a:prstGeom>
          <a:noFill/>
          <a:ln w="47625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1975" y="2931170"/>
            <a:ext cx="72715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Augmentation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61975" y="3132981"/>
            <a:ext cx="72715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user question with retrieved chunks into enriched prompt. Provides context to ground LLM.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7805291" y="2931170"/>
            <a:ext cx="824359" cy="215205"/>
          </a:xfrm>
          <a:prstGeom prst="roundRect">
            <a:avLst>
              <a:gd name="adj" fmla="val 177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00541" y="2978795"/>
            <a:ext cx="6465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augmentation.py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381000" y="3451027"/>
            <a:ext cx="8382000" cy="538907"/>
          </a:xfrm>
          <a:prstGeom prst="roundRect">
            <a:avLst>
              <a:gd name="adj" fmla="val 10605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04813" y="3451027"/>
            <a:ext cx="0" cy="538907"/>
          </a:xfrm>
          <a:prstGeom prst="line">
            <a:avLst/>
          </a:prstGeom>
          <a:noFill/>
          <a:ln w="47625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1975" y="3546277"/>
            <a:ext cx="738818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Generation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561975" y="3748087"/>
            <a:ext cx="73881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llama3.2:3b LLM to synthesize natural language answers. Context-aware responses with sources.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7919591" y="3546277"/>
            <a:ext cx="710059" cy="215205"/>
          </a:xfrm>
          <a:prstGeom prst="roundRect">
            <a:avLst>
              <a:gd name="adj" fmla="val 177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014841" y="3593902"/>
            <a:ext cx="5299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generation.py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381000" y="4104233"/>
            <a:ext cx="8382000" cy="285750"/>
          </a:xfrm>
          <a:prstGeom prst="roundRect">
            <a:avLst>
              <a:gd name="adj" fmla="val 20000"/>
            </a:avLst>
          </a:prstGeom>
          <a:solidFill>
            <a:srgbClr val="E8E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14350" y="4180433"/>
            <a:ext cx="82776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50"/>
              </a:lnSpc>
            </a:pPr>
            <a:r>
              <a:rPr lang="en-US" sz="7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</a:t>
            </a:r>
            <a:r>
              <a:rPr lang="en-US" sz="75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Python 3.12 • PyPDF2 • sentence-transformers • FAISS • Ollama • </a:t>
            </a:r>
            <a:r>
              <a:rPr lang="en-US" sz="750" dirty="0" err="1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JupyterNotebook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Rationale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990600"/>
            <a:ext cx="4095750" cy="1996232"/>
          </a:xfrm>
          <a:prstGeom prst="roundRect">
            <a:avLst>
              <a:gd name="adj" fmla="val 2863"/>
            </a:avLst>
          </a:prstGeom>
          <a:solidFill>
            <a:srgbClr val="E8E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1104900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495300" y="1335286"/>
            <a:ext cx="3867150" cy="474315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411486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Design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1500" y="1600051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component can be upgraded independently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95300" y="1866751"/>
            <a:ext cx="3867150" cy="474315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1500" y="1942951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Two-Phase Separation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1500" y="2131516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runs once, fast queries processing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95300" y="2398216"/>
            <a:ext cx="3867150" cy="474315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1500" y="2474416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 Approach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1500" y="2662982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API costs, complete data privacy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1000" y="3082082"/>
            <a:ext cx="4095750" cy="1464766"/>
          </a:xfrm>
          <a:prstGeom prst="roundRect">
            <a:avLst>
              <a:gd name="adj" fmla="val 3902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5300" y="3196382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Choices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95300" y="3426768"/>
            <a:ext cx="3867150" cy="474315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1500" y="3502968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Vector Store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1500" y="3691533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standard, optimized for CPU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95300" y="3958233"/>
            <a:ext cx="3867150" cy="474315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71500" y="4034433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sentence-transformers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1500" y="4222998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Pre-trained models, excellent semantic understanding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67250" y="990600"/>
            <a:ext cx="4095750" cy="1996232"/>
          </a:xfrm>
          <a:prstGeom prst="roundRect">
            <a:avLst>
              <a:gd name="adj" fmla="val 2863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81550" y="1104900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781550" y="1335286"/>
            <a:ext cx="3867150" cy="474315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57750" y="1411486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Size: 200 chars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57750" y="1600051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context with retrieval precision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81550" y="1866751"/>
            <a:ext cx="3867150" cy="474315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57750" y="1942951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Overlap: 50 chars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57750" y="2131516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information loss at boundaries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81550" y="2398216"/>
            <a:ext cx="3867150" cy="474315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57750" y="2474416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Preservation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57750" y="2662982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semantic coherence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667250" y="3082082"/>
            <a:ext cx="4095750" cy="1464766"/>
          </a:xfrm>
          <a:prstGeom prst="roundRect">
            <a:avLst>
              <a:gd name="adj" fmla="val 3902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81550" y="3196382"/>
            <a:ext cx="394449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Selection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4781550" y="3426768"/>
            <a:ext cx="3867150" cy="474315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57750" y="3502968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llama3.2:3b Model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57750" y="3691533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balance: quality vs. speed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81550" y="3958233"/>
            <a:ext cx="3867150" cy="474315"/>
          </a:xfrm>
          <a:prstGeom prst="roundRect">
            <a:avLst>
              <a:gd name="adj" fmla="val 80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57750" y="4034433"/>
            <a:ext cx="378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= 3 Retrieval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57750" y="4222998"/>
            <a:ext cx="378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Sufficient context without overwhelming prompt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81000" y="47434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</a:t>
            </a:r>
            <a:r>
              <a:rPr lang="en-US" sz="750" dirty="0" err="1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choioces</a:t>
            </a: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based on : performance, modularity, cost-effectiveness, and maintainability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99060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00BC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0034" y="1055340"/>
            <a:ext cx="86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7250" y="990600"/>
            <a:ext cx="80638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&amp; Data Layer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857250" y="1201936"/>
            <a:ext cx="7905750" cy="298996"/>
          </a:xfrm>
          <a:prstGeom prst="roundRect">
            <a:avLst>
              <a:gd name="adj" fmla="val 12743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278136"/>
            <a:ext cx="78695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Python environment • Implement knowledge_base.py for PDF loading and chunking • Test chunk quality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1577132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00BC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0034" y="1641872"/>
            <a:ext cx="86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7250" y="1577132"/>
            <a:ext cx="80638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&amp; Retrieval System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57250" y="1788468"/>
            <a:ext cx="7905750" cy="298996"/>
          </a:xfrm>
          <a:prstGeom prst="roundRect">
            <a:avLst>
              <a:gd name="adj" fmla="val 12743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52500" y="1864668"/>
            <a:ext cx="78695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sentence-transformers • Build FAISS index and similarity search • Validate retrieval accuracy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81000" y="2163663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00BCD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0034" y="2228404"/>
            <a:ext cx="86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7250" y="2163663"/>
            <a:ext cx="80638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Generation Pipeline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857250" y="2374999"/>
            <a:ext cx="7905750" cy="298996"/>
          </a:xfrm>
          <a:prstGeom prst="roundRect">
            <a:avLst>
              <a:gd name="adj" fmla="val 12743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52500" y="2451199"/>
            <a:ext cx="78695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augmentation.py • Set up Ollama and integrate llama3.2:3b • Build end-to-end query pipeline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81000" y="275019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1A237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0034" y="2814935"/>
            <a:ext cx="86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7250" y="2750195"/>
            <a:ext cx="80638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Documentation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857250" y="2961531"/>
            <a:ext cx="7905750" cy="298996"/>
          </a:xfrm>
          <a:prstGeom prst="roundRect">
            <a:avLst>
              <a:gd name="adj" fmla="val 12743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52500" y="3037731"/>
            <a:ext cx="78695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Jupyter notebook with demonstrations • Test with diverse queries • Document architecture and decisions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381000" y="47434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development with continuous testing ensures each component works before moving to the next phase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990600"/>
            <a:ext cx="8382000" cy="807690"/>
          </a:xfrm>
          <a:prstGeom prst="roundRect">
            <a:avLst>
              <a:gd name="adj" fmla="val 7076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990600"/>
            <a:ext cx="0" cy="807690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4350" y="1085850"/>
            <a:ext cx="83164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Chunk Size Optimization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4350" y="1283940"/>
            <a:ext cx="8316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500-char chunks were too large, causing poor retrieval precision. And NLTK </a:t>
            </a:r>
            <a:r>
              <a:rPr lang="en-US" sz="750" dirty="0" err="1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punk_tab</a:t>
            </a:r>
            <a:r>
              <a:rPr lang="en-US" sz="7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issues in newer versions, implemented regex-based tokenizer. 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4350" y="1455390"/>
            <a:ext cx="8153400" cy="2476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0550" y="1512540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7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Reduced to 200 characters with 50-char overlap. Tested multiple sizes and measured retrieval accuracy.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1000" y="1864965"/>
            <a:ext cx="8382000" cy="807690"/>
          </a:xfrm>
          <a:prstGeom prst="roundRect">
            <a:avLst>
              <a:gd name="adj" fmla="val 7076"/>
            </a:avLst>
          </a:prstGeom>
          <a:solidFill>
            <a:srgbClr val="F3E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1864965"/>
            <a:ext cx="0" cy="807690"/>
          </a:xfrm>
          <a:prstGeom prst="line">
            <a:avLst/>
          </a:prstGeom>
          <a:noFill/>
          <a:ln w="381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4350" y="1960215"/>
            <a:ext cx="83164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LLM Response Consistency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4350" y="2158305"/>
            <a:ext cx="8316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responses varied widely; sometimes hallucinated information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14350" y="2329755"/>
            <a:ext cx="8153400" cy="2476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0550" y="2386905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7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Enhanced prompt engineering with explicit instructions. Added page number tracking and top-K=3 for sufficient context.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1000" y="2739330"/>
            <a:ext cx="8382000" cy="807690"/>
          </a:xfrm>
          <a:prstGeom prst="roundRect">
            <a:avLst>
              <a:gd name="adj" fmla="val 7076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2739330"/>
            <a:ext cx="0" cy="807690"/>
          </a:xfrm>
          <a:prstGeom prst="line">
            <a:avLst/>
          </a:prstGeom>
          <a:noFill/>
          <a:ln w="381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4350" y="2834580"/>
            <a:ext cx="83164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Embedding Model Selection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4350" y="3032671"/>
            <a:ext cx="8316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models (768-dim) were too slow; smaller models (128-dim) had poor accuracy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14350" y="3204121"/>
            <a:ext cx="8153400" cy="2476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0550" y="3261271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7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Selected sentence-transformers all-MiniLM-L6-v2 (384-dim). Achieves sub-100ms encoding with strong semantic similarity.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1000" y="3613696"/>
            <a:ext cx="8382000" cy="807690"/>
          </a:xfrm>
          <a:prstGeom prst="roundRect">
            <a:avLst>
              <a:gd name="adj" fmla="val 7076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00050" y="3613696"/>
            <a:ext cx="0" cy="80769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4350" y="3708946"/>
            <a:ext cx="831646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Query Performance at Scale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4350" y="3907036"/>
            <a:ext cx="8316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Brute-force search became slow beyond 1000 chunks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14350" y="4078486"/>
            <a:ext cx="8153400" cy="2476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0550" y="4135636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r>
              <a:rPr lang="en-US" sz="7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Implemented FAISS IndexFlatL2. Reduced search time from 500ms to &lt;10ms.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81000" y="4507111"/>
            <a:ext cx="8382000" cy="285750"/>
          </a:xfrm>
          <a:prstGeom prst="roundRect">
            <a:avLst>
              <a:gd name="adj" fmla="val 20000"/>
            </a:avLst>
          </a:prstGeom>
          <a:solidFill>
            <a:srgbClr val="E8E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5300" y="4583311"/>
            <a:ext cx="83164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Learnings:</a:t>
            </a:r>
            <a:r>
              <a:rPr lang="en-US" sz="750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Iterative testing is crucial • Measure everything • Balance trade-offs • Start simple, optimize incrementally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92621" y="4848225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challenges were resolved through systematic experimentation and measurement-driven optimization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6051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Key Takeaways</a:t>
            </a:r>
            <a:endParaRPr lang="en-US" sz="2700" dirty="0"/>
          </a:p>
        </p:txBody>
      </p:sp>
      <p:pic>
        <p:nvPicPr>
          <p:cNvPr id="3" name="Image 0" descr="/tmp/rasterized-gradient-68ce9b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90600"/>
            <a:ext cx="8382000" cy="8170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4350" y="1123950"/>
            <a:ext cx="82776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Built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14350" y="1354336"/>
            <a:ext cx="827760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RAG pipeline that answers questions from PDF documents using semantic search and LLM generation. Modular, scalable, and optimized for performance.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81000" y="1902916"/>
            <a:ext cx="42068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Strengths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81000" y="2139107"/>
            <a:ext cx="4124325" cy="460921"/>
          </a:xfrm>
          <a:prstGeom prst="roundRect">
            <a:avLst>
              <a:gd name="adj" fmla="val 12399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" y="2215307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Modular Architecture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57200" y="2390477"/>
            <a:ext cx="4051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component is independent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81000" y="2676227"/>
            <a:ext cx="4124325" cy="460921"/>
          </a:xfrm>
          <a:prstGeom prst="roundRect">
            <a:avLst>
              <a:gd name="adj" fmla="val 12399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200" y="2752427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Fast Retrieval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57200" y="2927598"/>
            <a:ext cx="4051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Sub-second search with FAISS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81000" y="3213348"/>
            <a:ext cx="4124325" cy="460921"/>
          </a:xfrm>
          <a:prstGeom prst="roundRect">
            <a:avLst>
              <a:gd name="adj" fmla="val 12399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57200" y="3289548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Context-Aware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57200" y="3464719"/>
            <a:ext cx="4051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responses grounded in sources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81000" y="3750469"/>
            <a:ext cx="4124325" cy="460921"/>
          </a:xfrm>
          <a:prstGeom prst="roundRect">
            <a:avLst>
              <a:gd name="adj" fmla="val 12399"/>
            </a:avLst>
          </a:prstGeom>
          <a:solidFill>
            <a:srgbClr val="F5F5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57200" y="3826669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Cost-Effective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57200" y="4001839"/>
            <a:ext cx="4051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LLM, no API costs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638675" y="1902916"/>
            <a:ext cx="42068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638675" y="2139107"/>
            <a:ext cx="4124325" cy="460921"/>
          </a:xfrm>
          <a:prstGeom prst="roundRect">
            <a:avLst>
              <a:gd name="adj" fmla="val 12399"/>
            </a:avLst>
          </a:prstGeom>
          <a:solidFill>
            <a:srgbClr val="E8E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714875" y="2215307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Multi-Document Support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4714875" y="2390477"/>
            <a:ext cx="4051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multiple PDFs with source tracking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638675" y="2676227"/>
            <a:ext cx="4124325" cy="460921"/>
          </a:xfrm>
          <a:prstGeom prst="roundRect">
            <a:avLst>
              <a:gd name="adj" fmla="val 12399"/>
            </a:avLst>
          </a:prstGeom>
          <a:solidFill>
            <a:srgbClr val="E8E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714875" y="2752427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Hybrid Search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4714875" y="2927598"/>
            <a:ext cx="4051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semantic + keyword search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638675" y="3213348"/>
            <a:ext cx="4124325" cy="460921"/>
          </a:xfrm>
          <a:prstGeom prst="roundRect">
            <a:avLst>
              <a:gd name="adj" fmla="val 12399"/>
            </a:avLst>
          </a:prstGeom>
          <a:solidFill>
            <a:srgbClr val="E8E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714875" y="3289548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Query History</a:t>
            </a:r>
            <a:endParaRPr lang="en-US" sz="825" dirty="0"/>
          </a:p>
        </p:txBody>
      </p:sp>
      <p:sp>
        <p:nvSpPr>
          <p:cNvPr id="28" name="Text 25"/>
          <p:cNvSpPr/>
          <p:nvPr/>
        </p:nvSpPr>
        <p:spPr>
          <a:xfrm>
            <a:off x="4714875" y="3464719"/>
            <a:ext cx="4051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conversation memory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638675" y="3750469"/>
            <a:ext cx="4124325" cy="460921"/>
          </a:xfrm>
          <a:prstGeom prst="roundRect">
            <a:avLst>
              <a:gd name="adj" fmla="val 12399"/>
            </a:avLst>
          </a:prstGeom>
          <a:solidFill>
            <a:srgbClr val="E8E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14875" y="3826669"/>
            <a:ext cx="40513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Citation Highlighting</a:t>
            </a:r>
            <a:endParaRPr lang="en-US" sz="825" dirty="0"/>
          </a:p>
        </p:txBody>
      </p:sp>
      <p:sp>
        <p:nvSpPr>
          <p:cNvPr id="31" name="Text 28"/>
          <p:cNvSpPr/>
          <p:nvPr/>
        </p:nvSpPr>
        <p:spPr>
          <a:xfrm>
            <a:off x="4714875" y="4001839"/>
            <a:ext cx="40513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source highlighting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81000" y="4306639"/>
            <a:ext cx="2024062" cy="500955"/>
          </a:xfrm>
          <a:prstGeom prst="roundRect">
            <a:avLst>
              <a:gd name="adj" fmla="val 11408"/>
            </a:avLst>
          </a:prstGeom>
          <a:solidFill>
            <a:srgbClr val="E8E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38483" y="4382839"/>
            <a:ext cx="19090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Time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38483" y="4544764"/>
            <a:ext cx="19090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days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2500313" y="4306639"/>
            <a:ext cx="2024062" cy="500955"/>
          </a:xfrm>
          <a:prstGeom prst="roundRect">
            <a:avLst>
              <a:gd name="adj" fmla="val 11408"/>
            </a:avLst>
          </a:prstGeom>
          <a:solidFill>
            <a:srgbClr val="E8E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2557796" y="4382839"/>
            <a:ext cx="19090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2557796" y="4544764"/>
            <a:ext cx="19090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619625" y="4306639"/>
            <a:ext cx="2024062" cy="500955"/>
          </a:xfrm>
          <a:prstGeom prst="roundRect">
            <a:avLst>
              <a:gd name="adj" fmla="val 11408"/>
            </a:avLst>
          </a:prstGeom>
          <a:solidFill>
            <a:srgbClr val="E8E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677108" y="4382839"/>
            <a:ext cx="19090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Latency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4677108" y="4544764"/>
            <a:ext cx="19090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&lt;2s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6738938" y="4306639"/>
            <a:ext cx="2024062" cy="500955"/>
          </a:xfrm>
          <a:prstGeom prst="roundRect">
            <a:avLst>
              <a:gd name="adj" fmla="val 11408"/>
            </a:avLst>
          </a:prstGeom>
          <a:solidFill>
            <a:srgbClr val="E8EA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796421" y="4382839"/>
            <a:ext cx="19090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Accuracy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6796421" y="4544764"/>
            <a:ext cx="19090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363855" y="4883794"/>
            <a:ext cx="8549640" cy="109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Jupyter notebook for interactive demonstration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</TotalTime>
  <Words>742</Words>
  <Application>Microsoft Macintosh PowerPoint</Application>
  <PresentationFormat>On-screen Show (16:9)</PresentationFormat>
  <Paragraphs>143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Pipeline System</dc:title>
  <dc:subject>Retrieval-Augmented Generation Architecture</dc:subject>
  <dc:creator>RAG Pipeline Developer</dc:creator>
  <cp:lastModifiedBy>Nallagatla, Tejaswini</cp:lastModifiedBy>
  <cp:revision>11</cp:revision>
  <dcterms:created xsi:type="dcterms:W3CDTF">2025-11-24T23:18:45Z</dcterms:created>
  <dcterms:modified xsi:type="dcterms:W3CDTF">2025-11-25T21:13:46Z</dcterms:modified>
</cp:coreProperties>
</file>